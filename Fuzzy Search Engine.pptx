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9" r:id="rId4"/>
    <p:sldId id="272" r:id="rId5"/>
    <p:sldId id="271" r:id="rId6"/>
    <p:sldId id="273" r:id="rId7"/>
    <p:sldId id="275" r:id="rId8"/>
    <p:sldId id="274" r:id="rId9"/>
    <p:sldId id="270" r:id="rId10"/>
    <p:sldId id="268"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Open Sauce" panose="020B0604020202020204" charset="0"/>
      <p:regular r:id="rId16"/>
    </p:embeddedFont>
    <p:embeddedFont>
      <p:font typeface="Open Sauce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30-Sep-26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30-Sep-26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30-Sep-26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30-Sep-26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30-Sep-26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30-Sep-26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30-Sep-26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30-Sep-26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30-Sep-26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30-Sep-26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30-Sep-26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30-Sep-26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933450" y="2696608"/>
            <a:ext cx="13620750" cy="3075457"/>
          </a:xfrm>
          <a:prstGeom prst="rect">
            <a:avLst/>
          </a:prstGeom>
        </p:spPr>
        <p:txBody>
          <a:bodyPr wrap="square" lIns="0" tIns="0" rIns="0" bIns="0" rtlCol="0" anchor="t">
            <a:spAutoFit/>
          </a:bodyPr>
          <a:lstStyle/>
          <a:p>
            <a:pPr>
              <a:lnSpc>
                <a:spcPts val="13040"/>
              </a:lnSpc>
            </a:pPr>
            <a:r>
              <a:rPr lang="en-US" sz="9600" dirty="0">
                <a:solidFill>
                  <a:schemeClr val="bg2">
                    <a:lumMod val="50000"/>
                  </a:schemeClr>
                </a:solidFill>
                <a:latin typeface="Arial" panose="020B0604020202020204" pitchFamily="34" charset="0"/>
                <a:cs typeface="Arial" panose="020B0604020202020204" pitchFamily="34" charset="0"/>
              </a:rPr>
              <a:t>Fuzzy-Search Engine</a:t>
            </a:r>
          </a:p>
          <a:p>
            <a:pPr>
              <a:lnSpc>
                <a:spcPts val="13040"/>
              </a:lnSpc>
            </a:pPr>
            <a:r>
              <a:rPr lang="en-US" sz="4800" dirty="0">
                <a:latin typeface="Arial" panose="020B0604020202020204" pitchFamily="34" charset="0"/>
                <a:cs typeface="Arial" panose="020B0604020202020204" pitchFamily="34" charset="0"/>
              </a:rPr>
              <a:t>An Error-Tolerant Word Retrieval</a:t>
            </a:r>
            <a:endParaRPr lang="en-US" sz="4800" spc="-782" dirty="0">
              <a:solidFill>
                <a:srgbClr val="331B0D"/>
              </a:solidFill>
              <a:latin typeface="Arial" panose="020B0604020202020204" pitchFamily="34" charset="0"/>
              <a:ea typeface="Open Sauce"/>
              <a:cs typeface="Arial" panose="020B0604020202020204" pitchFamily="34" charset="0"/>
              <a:sym typeface="Open Sauce"/>
            </a:endParaRPr>
          </a:p>
        </p:txBody>
      </p:sp>
      <p:sp>
        <p:nvSpPr>
          <p:cNvPr id="3" name="TextBox 3"/>
          <p:cNvSpPr txBox="1"/>
          <p:nvPr/>
        </p:nvSpPr>
        <p:spPr>
          <a:xfrm>
            <a:off x="12698616" y="7369021"/>
            <a:ext cx="4560684" cy="615553"/>
          </a:xfrm>
          <a:prstGeom prst="rect">
            <a:avLst/>
          </a:prstGeom>
        </p:spPr>
        <p:txBody>
          <a:bodyPr lIns="0" tIns="0" rIns="0" bIns="0" rtlCol="0" anchor="t">
            <a:spAutoFit/>
          </a:bodyPr>
          <a:lstStyle/>
          <a:p>
            <a:pPr algn="r">
              <a:lnSpc>
                <a:spcPts val="2400"/>
              </a:lnSpc>
              <a:spcBef>
                <a:spcPct val="0"/>
              </a:spcBef>
            </a:pPr>
            <a:r>
              <a:rPr lang="en-US" sz="2400" b="1" spc="240" dirty="0">
                <a:solidFill>
                  <a:schemeClr val="bg2">
                    <a:lumMod val="50000"/>
                  </a:schemeClr>
                </a:solidFill>
                <a:latin typeface="Arial" panose="020B0604020202020204" pitchFamily="34" charset="0"/>
                <a:ea typeface="Open Sauce Bold"/>
                <a:cs typeface="Arial" panose="020B0604020202020204" pitchFamily="34" charset="0"/>
                <a:sym typeface="Open Sauce Bold"/>
              </a:rPr>
              <a:t>SECTION 3</a:t>
            </a:r>
          </a:p>
          <a:p>
            <a:pPr algn="r">
              <a:lnSpc>
                <a:spcPts val="2400"/>
              </a:lnSpc>
              <a:spcBef>
                <a:spcPct val="0"/>
              </a:spcBef>
            </a:pPr>
            <a:r>
              <a:rPr lang="en-US" sz="2400" b="1" spc="240" dirty="0">
                <a:solidFill>
                  <a:schemeClr val="bg2">
                    <a:lumMod val="50000"/>
                  </a:schemeClr>
                </a:solidFill>
                <a:latin typeface="Arial" panose="020B0604020202020204" pitchFamily="34" charset="0"/>
                <a:ea typeface="Open Sauce Bold"/>
                <a:cs typeface="Arial" panose="020B0604020202020204" pitchFamily="34" charset="0"/>
                <a:sym typeface="Open Sauce Bold"/>
              </a:rPr>
              <a:t>TEAM 4</a:t>
            </a:r>
          </a:p>
        </p:txBody>
      </p:sp>
      <p:sp>
        <p:nvSpPr>
          <p:cNvPr id="4" name="TextBox 4"/>
          <p:cNvSpPr txBox="1"/>
          <p:nvPr/>
        </p:nvSpPr>
        <p:spPr>
          <a:xfrm>
            <a:off x="12192000" y="8343900"/>
            <a:ext cx="5322684" cy="1084592"/>
          </a:xfrm>
          <a:prstGeom prst="rect">
            <a:avLst/>
          </a:prstGeom>
        </p:spPr>
        <p:txBody>
          <a:bodyPr wrap="square" lIns="0" tIns="0" rIns="0" bIns="0" rtlCol="0" anchor="t">
            <a:spAutoFit/>
          </a:bodyPr>
          <a:lstStyle/>
          <a:p>
            <a:pPr algn="r">
              <a:lnSpc>
                <a:spcPts val="2940"/>
              </a:lnSpc>
            </a:pPr>
            <a:r>
              <a:rPr lang="en-US" sz="2400" dirty="0">
                <a:latin typeface="Arial" panose="020B0604020202020204" pitchFamily="34" charset="0"/>
                <a:cs typeface="Arial" panose="020B0604020202020204" pitchFamily="34" charset="0"/>
              </a:rPr>
              <a:t>2520030159 – B. HEMA SRI</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2520030371 – P. HAVISHAA </a:t>
            </a:r>
            <a:endParaRPr lang="en-GB" sz="2400" dirty="0">
              <a:latin typeface="Arial" panose="020B0604020202020204" pitchFamily="34" charset="0"/>
              <a:cs typeface="Arial" panose="020B0604020202020204" pitchFamily="34" charset="0"/>
            </a:endParaRPr>
          </a:p>
          <a:p>
            <a:pPr algn="r">
              <a:lnSpc>
                <a:spcPts val="2940"/>
              </a:lnSpc>
            </a:pPr>
            <a:endParaRPr lang="en-US" sz="2100" dirty="0">
              <a:solidFill>
                <a:srgbClr val="331B0D"/>
              </a:solidFill>
              <a:latin typeface="Open Sauce"/>
              <a:ea typeface="Open Sauce"/>
              <a:cs typeface="Open Sauce"/>
              <a:sym typeface="Open Sauc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200" y="1790700"/>
            <a:ext cx="8115300" cy="619657"/>
          </a:xfrm>
          <a:prstGeom prst="rect">
            <a:avLst/>
          </a:prstGeom>
        </p:spPr>
        <p:txBody>
          <a:bodyPr lIns="0" tIns="0" rIns="0" bIns="0" rtlCol="0" anchor="t">
            <a:spAutoFit/>
          </a:bodyPr>
          <a:lstStyle/>
          <a:p>
            <a:pPr>
              <a:lnSpc>
                <a:spcPts val="4800"/>
              </a:lnSpc>
            </a:pPr>
            <a:r>
              <a:rPr lang="en-US" sz="4800" spc="-288" dirty="0">
                <a:solidFill>
                  <a:schemeClr val="bg2">
                    <a:lumMod val="50000"/>
                  </a:schemeClr>
                </a:solidFill>
                <a:latin typeface="Arial" panose="020B0604020202020204" pitchFamily="34" charset="0"/>
                <a:ea typeface="Open Sauce"/>
                <a:cs typeface="Arial" panose="020B0604020202020204" pitchFamily="34" charset="0"/>
                <a:sym typeface="Open Sauce"/>
              </a:rPr>
              <a:t>ABSTRACT</a:t>
            </a:r>
          </a:p>
        </p:txBody>
      </p:sp>
      <p:sp>
        <p:nvSpPr>
          <p:cNvPr id="5" name="TextBox 5"/>
          <p:cNvSpPr txBox="1"/>
          <p:nvPr/>
        </p:nvSpPr>
        <p:spPr>
          <a:xfrm>
            <a:off x="838200" y="3314700"/>
            <a:ext cx="16383000" cy="6032421"/>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This project builds a fuzzy search system that helps users find correct results even when they make typing mistakes. Instead of rejecting misspelled queries, the system compares the entered word with dictionary entries using the </a:t>
            </a:r>
            <a:r>
              <a:rPr lang="en-US" sz="2800" dirty="0" err="1">
                <a:latin typeface="Arial" panose="020B0604020202020204" pitchFamily="34" charset="0"/>
                <a:cs typeface="Arial" panose="020B0604020202020204" pitchFamily="34" charset="0"/>
              </a:rPr>
              <a:t>Levenshtein</a:t>
            </a:r>
            <a:r>
              <a:rPr lang="en-US" sz="2800" dirty="0">
                <a:latin typeface="Arial" panose="020B0604020202020204" pitchFamily="34" charset="0"/>
                <a:cs typeface="Arial" panose="020B0604020202020204" pitchFamily="34" charset="0"/>
              </a:rPr>
              <a:t> Distance algorithm. This algorithm calculates similarity by counting the number of edits needed to change one word into another. </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Based on these similarity scores, the system ranks possible matches and suggests the most relevant ones. The design is efficient, allowing it to handle very large dictionaries and support multiple languages without slowing down. This makes the system suitable for applications such as spell checkers, auto‑complete tools, intelligent search engines, and text‑based platforms where speed and accuracy are important. </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By tolerating small errors, the fuzzy search reduces frustration, improves accessibility, and ensures meaningful results quickly. Overall, it shows how smart algorithms can make digital interactions smoother, more reliable, and inclusive across languages and contexts.</a:t>
            </a:r>
            <a:endParaRPr lang="en-GB" sz="28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200" y="1790700"/>
            <a:ext cx="8115300" cy="619657"/>
          </a:xfrm>
          <a:prstGeom prst="rect">
            <a:avLst/>
          </a:prstGeom>
        </p:spPr>
        <p:txBody>
          <a:bodyPr lIns="0" tIns="0" rIns="0" bIns="0" rtlCol="0" anchor="t">
            <a:spAutoFit/>
          </a:bodyPr>
          <a:lstStyle/>
          <a:p>
            <a:pPr>
              <a:lnSpc>
                <a:spcPts val="4800"/>
              </a:lnSpc>
            </a:pPr>
            <a:r>
              <a:rPr lang="en-US" sz="4800" dirty="0">
                <a:solidFill>
                  <a:schemeClr val="bg2">
                    <a:lumMod val="50000"/>
                  </a:schemeClr>
                </a:solidFill>
                <a:latin typeface="Arial" panose="020B0604020202020204" pitchFamily="34" charset="0"/>
                <a:cs typeface="Arial" panose="020B0604020202020204" pitchFamily="34" charset="0"/>
              </a:rPr>
              <a:t>PROBLEM STATEMENT</a:t>
            </a:r>
            <a:endParaRPr lang="en-US" sz="4800" spc="-288" dirty="0">
              <a:solidFill>
                <a:schemeClr val="bg2">
                  <a:lumMod val="50000"/>
                </a:schemeClr>
              </a:solidFill>
              <a:latin typeface="Arial" panose="020B0604020202020204" pitchFamily="34" charset="0"/>
              <a:ea typeface="Open Sauce"/>
              <a:cs typeface="Arial" panose="020B0604020202020204" pitchFamily="34" charset="0"/>
              <a:sym typeface="Open Sauce"/>
            </a:endParaRPr>
          </a:p>
        </p:txBody>
      </p:sp>
      <p:sp>
        <p:nvSpPr>
          <p:cNvPr id="5" name="TextBox 5"/>
          <p:cNvSpPr txBox="1"/>
          <p:nvPr/>
        </p:nvSpPr>
        <p:spPr>
          <a:xfrm>
            <a:off x="838200" y="3314700"/>
            <a:ext cx="15925800" cy="4431983"/>
          </a:xfrm>
          <a:prstGeom prst="rect">
            <a:avLst/>
          </a:prstGeom>
        </p:spPr>
        <p:txBody>
          <a:bodyPr wrap="square" lIns="0" tIns="0" rIns="0" bIns="0" rtlCol="0" anchor="t">
            <a:spAutoFit/>
          </a:bodyPr>
          <a:lstStyle/>
          <a:p>
            <a:pPr marL="342900" indent="-342900" eaLnBrk="0" fontAlgn="base" hangingPunct="0">
              <a:spcBef>
                <a:spcPct val="0"/>
              </a:spcBef>
              <a:spcAft>
                <a:spcPct val="0"/>
              </a:spcAft>
              <a:buClrTx/>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People often type search queries with spelling mistakes.</a:t>
            </a:r>
          </a:p>
          <a:p>
            <a:pPr marL="342900" indent="-342900" eaLnBrk="0" fontAlgn="base" hangingPunct="0">
              <a:spcBef>
                <a:spcPct val="0"/>
              </a:spcBef>
              <a:spcAft>
                <a:spcPct val="0"/>
              </a:spcAft>
              <a:buFont typeface="Arial" panose="020B0604020202020204" pitchFamily="34" charset="0"/>
              <a:buChar char="•"/>
            </a:pPr>
            <a:endParaRPr lang="en-US" altLang="en-US" sz="3200" dirty="0">
              <a:latin typeface="Arial" panose="020B0604020202020204" pitchFamily="34" charset="0"/>
              <a:cs typeface="Arial" panose="020B0604020202020204" pitchFamily="34" charset="0"/>
            </a:endParaRPr>
          </a:p>
          <a:p>
            <a:pPr marL="342900" indent="-342900" eaLnBrk="0" fontAlgn="base" hangingPunct="0">
              <a:spcBef>
                <a:spcPct val="0"/>
              </a:spcBef>
              <a:spcAft>
                <a:spcPct val="0"/>
              </a:spcAft>
              <a:buClrTx/>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Current search systems fail to return useful results when errors occur.</a:t>
            </a:r>
          </a:p>
          <a:p>
            <a:pPr marL="342900" indent="-342900" eaLnBrk="0" fontAlgn="base" hangingPunct="0">
              <a:spcBef>
                <a:spcPct val="0"/>
              </a:spcBef>
              <a:spcAft>
                <a:spcPct val="0"/>
              </a:spcAft>
              <a:buFont typeface="Arial" panose="020B0604020202020204" pitchFamily="34" charset="0"/>
              <a:buChar char="•"/>
            </a:pPr>
            <a:endParaRPr lang="en-US" altLang="en-US" sz="3200" dirty="0">
              <a:latin typeface="Arial" panose="020B0604020202020204" pitchFamily="34" charset="0"/>
              <a:cs typeface="Arial" panose="020B0604020202020204" pitchFamily="34" charset="0"/>
            </a:endParaRPr>
          </a:p>
          <a:p>
            <a:pPr marL="342900" indent="-342900" eaLnBrk="0" fontAlgn="base" hangingPunct="0">
              <a:spcBef>
                <a:spcPct val="0"/>
              </a:spcBef>
              <a:spcAft>
                <a:spcPct val="0"/>
              </a:spcAft>
              <a:buClrTx/>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This makes searching frustrating and less effective.</a:t>
            </a:r>
          </a:p>
          <a:p>
            <a:pPr marL="342900" indent="-342900" eaLnBrk="0" fontAlgn="base" hangingPunct="0">
              <a:spcBef>
                <a:spcPct val="0"/>
              </a:spcBef>
              <a:spcAft>
                <a:spcPct val="0"/>
              </a:spcAft>
              <a:buFont typeface="Arial" panose="020B0604020202020204" pitchFamily="34" charset="0"/>
              <a:buChar char="•"/>
            </a:pPr>
            <a:endParaRPr lang="en-US" altLang="en-US" sz="3200" dirty="0">
              <a:latin typeface="Arial" panose="020B0604020202020204" pitchFamily="34" charset="0"/>
              <a:cs typeface="Arial" panose="020B0604020202020204" pitchFamily="34" charset="0"/>
            </a:endParaRPr>
          </a:p>
          <a:p>
            <a:pPr marL="342900" indent="-342900" eaLnBrk="0" fontAlgn="base" hangingPunct="0">
              <a:spcBef>
                <a:spcPct val="0"/>
              </a:spcBef>
              <a:spcAft>
                <a:spcPct val="0"/>
              </a:spcAft>
              <a:buClrTx/>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A fuzzy search system is needed to handle typos and still provide relevant matches.</a:t>
            </a:r>
          </a:p>
          <a:p>
            <a:pPr marL="342900" indent="-342900" eaLnBrk="0" fontAlgn="base" hangingPunct="0">
              <a:spcBef>
                <a:spcPct val="0"/>
              </a:spcBef>
              <a:spcAft>
                <a:spcPct val="0"/>
              </a:spcAft>
              <a:buFont typeface="Arial" panose="020B0604020202020204" pitchFamily="34" charset="0"/>
              <a:buChar char="•"/>
            </a:pPr>
            <a:endParaRPr lang="en-US" altLang="en-US" sz="3200" dirty="0">
              <a:latin typeface="Arial" panose="020B0604020202020204" pitchFamily="34" charset="0"/>
              <a:cs typeface="Arial" panose="020B0604020202020204" pitchFamily="34" charset="0"/>
            </a:endParaRPr>
          </a:p>
          <a:p>
            <a:pPr marL="342900" indent="-342900" eaLnBrk="0" fontAlgn="base" hangingPunct="0">
              <a:spcBef>
                <a:spcPct val="0"/>
              </a:spcBef>
              <a:spcAft>
                <a:spcPct val="0"/>
              </a:spcAft>
              <a:buClrTx/>
              <a:buFont typeface="Arial" panose="020B0604020202020204" pitchFamily="34" charset="0"/>
              <a:buChar char="•"/>
            </a:pPr>
            <a:r>
              <a:rPr lang="en-US" altLang="en-US" sz="3200" dirty="0">
                <a:latin typeface="Arial" panose="020B0604020202020204" pitchFamily="34" charset="0"/>
                <a:cs typeface="Arial" panose="020B0604020202020204" pitchFamily="34" charset="0"/>
              </a:rPr>
              <a:t>The goal is to make searching smoother and more reliable for users.</a:t>
            </a:r>
          </a:p>
        </p:txBody>
      </p:sp>
    </p:spTree>
    <p:extLst>
      <p:ext uri="{BB962C8B-B14F-4D97-AF65-F5344CB8AC3E}">
        <p14:creationId xmlns:p14="http://schemas.microsoft.com/office/powerpoint/2010/main" val="3842071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200" y="1485900"/>
            <a:ext cx="10668000" cy="615553"/>
          </a:xfrm>
          <a:prstGeom prst="rect">
            <a:avLst/>
          </a:prstGeom>
        </p:spPr>
        <p:txBody>
          <a:bodyPr wrap="square" lIns="0" tIns="0" rIns="0" bIns="0" rtlCol="0" anchor="t">
            <a:spAutoFit/>
          </a:bodyPr>
          <a:lstStyle/>
          <a:p>
            <a:pPr>
              <a:lnSpc>
                <a:spcPts val="4800"/>
              </a:lnSpc>
            </a:pPr>
            <a:r>
              <a:rPr lang="en-US" sz="4800" spc="-288" dirty="0">
                <a:solidFill>
                  <a:schemeClr val="bg2">
                    <a:lumMod val="50000"/>
                  </a:schemeClr>
                </a:solidFill>
                <a:latin typeface="Arial" panose="020B0604020202020204" pitchFamily="34" charset="0"/>
                <a:ea typeface="Open Sauce"/>
                <a:cs typeface="Arial" panose="020B0604020202020204" pitchFamily="34" charset="0"/>
                <a:sym typeface="Open Sauce"/>
              </a:rPr>
              <a:t>PROPOSED FUNCTIONALITIES</a:t>
            </a:r>
          </a:p>
        </p:txBody>
      </p:sp>
      <p:sp>
        <p:nvSpPr>
          <p:cNvPr id="5" name="TextBox 5"/>
          <p:cNvSpPr txBox="1"/>
          <p:nvPr/>
        </p:nvSpPr>
        <p:spPr>
          <a:xfrm>
            <a:off x="838200" y="3009900"/>
            <a:ext cx="15163800" cy="6894195"/>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Error‑tolerant search</a:t>
            </a:r>
            <a:r>
              <a:rPr lang="en-US" sz="3200" dirty="0">
                <a:latin typeface="Arial" panose="020B0604020202020204" pitchFamily="34" charset="0"/>
                <a:cs typeface="Arial" panose="020B0604020202020204" pitchFamily="34" charset="0"/>
              </a:rPr>
              <a:t>: Accepts misspelled queries and still finds relevant results.</a:t>
            </a:r>
          </a:p>
          <a:p>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Edit distance calculation</a:t>
            </a:r>
            <a:r>
              <a:rPr lang="en-US" sz="3200" dirty="0">
                <a:latin typeface="Arial" panose="020B0604020202020204" pitchFamily="34" charset="0"/>
                <a:cs typeface="Arial" panose="020B0604020202020204" pitchFamily="34" charset="0"/>
              </a:rPr>
              <a:t>: Uses </a:t>
            </a:r>
            <a:r>
              <a:rPr lang="en-US" sz="3200" dirty="0" err="1">
                <a:latin typeface="Arial" panose="020B0604020202020204" pitchFamily="34" charset="0"/>
                <a:cs typeface="Arial" panose="020B0604020202020204" pitchFamily="34" charset="0"/>
              </a:rPr>
              <a:t>Levenshtein</a:t>
            </a:r>
            <a:r>
              <a:rPr lang="en-US" sz="3200" dirty="0">
                <a:latin typeface="Arial" panose="020B0604020202020204" pitchFamily="34" charset="0"/>
                <a:cs typeface="Arial" panose="020B0604020202020204" pitchFamily="34" charset="0"/>
              </a:rPr>
              <a:t> Distance to measure similarity between input and dictionary words.</a:t>
            </a:r>
          </a:p>
          <a:p>
            <a:pPr marL="342900" indent="-342900">
              <a:buFont typeface="Arial" panose="020B0604020202020204" pitchFamily="34" charset="0"/>
              <a:buChar char="•"/>
            </a:pPr>
            <a:endParaRPr lang="en-US" sz="32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Ranking system</a:t>
            </a:r>
            <a:r>
              <a:rPr lang="en-US" sz="3200" dirty="0">
                <a:latin typeface="Arial" panose="020B0604020202020204" pitchFamily="34" charset="0"/>
                <a:cs typeface="Arial" panose="020B0604020202020204" pitchFamily="34" charset="0"/>
              </a:rPr>
              <a:t>: Scores and sorts matches based on closeness to the query.</a:t>
            </a:r>
          </a:p>
          <a:p>
            <a:pPr marL="342900" indent="-3429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Large dictionary support</a:t>
            </a:r>
            <a:r>
              <a:rPr lang="en-US" sz="3200" dirty="0">
                <a:latin typeface="Arial" panose="020B0604020202020204" pitchFamily="34" charset="0"/>
                <a:cs typeface="Arial" panose="020B0604020202020204" pitchFamily="34" charset="0"/>
              </a:rPr>
              <a:t>: Efficiently handles big word lists without slowing down.</a:t>
            </a:r>
          </a:p>
          <a:p>
            <a:pPr marL="342900" indent="-3429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Multilingual capability</a:t>
            </a:r>
            <a:r>
              <a:rPr lang="en-US" sz="3200" dirty="0">
                <a:latin typeface="Arial" panose="020B0604020202020204" pitchFamily="34" charset="0"/>
                <a:cs typeface="Arial" panose="020B0604020202020204" pitchFamily="34" charset="0"/>
              </a:rPr>
              <a:t>: Works across multiple languages for wider usability.</a:t>
            </a:r>
          </a:p>
          <a:p>
            <a:pPr marL="342900" indent="-3429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Practical integration</a:t>
            </a:r>
            <a:r>
              <a:rPr lang="en-US" sz="3200" dirty="0">
                <a:latin typeface="Arial" panose="020B0604020202020204" pitchFamily="34" charset="0"/>
                <a:cs typeface="Arial" panose="020B0604020202020204" pitchFamily="34" charset="0"/>
              </a:rPr>
              <a:t>: Can be applied in spell checkers, auto‑complete tools, and intelligent search engines.</a:t>
            </a:r>
          </a:p>
          <a:p>
            <a:pPr marL="342900" indent="-342900" eaLnBrk="0" fontAlgn="base" hangingPunct="0">
              <a:spcBef>
                <a:spcPct val="0"/>
              </a:spcBef>
              <a:spcAft>
                <a:spcPct val="0"/>
              </a:spcAft>
              <a:buClrTx/>
              <a:buFont typeface="Arial" panose="020B0604020202020204" pitchFamily="34" charset="0"/>
              <a:buChar char="•"/>
            </a:pP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3443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762000" y="876300"/>
            <a:ext cx="8115300" cy="619657"/>
          </a:xfrm>
          <a:prstGeom prst="rect">
            <a:avLst/>
          </a:prstGeom>
        </p:spPr>
        <p:txBody>
          <a:bodyPr lIns="0" tIns="0" rIns="0" bIns="0" rtlCol="0" anchor="t">
            <a:spAutoFit/>
          </a:bodyPr>
          <a:lstStyle/>
          <a:p>
            <a:pPr>
              <a:lnSpc>
                <a:spcPts val="4800"/>
              </a:lnSpc>
            </a:pPr>
            <a:r>
              <a:rPr lang="en-US" sz="4800" dirty="0">
                <a:solidFill>
                  <a:schemeClr val="bg2">
                    <a:lumMod val="50000"/>
                  </a:schemeClr>
                </a:solidFill>
                <a:latin typeface="Arial" panose="020B0604020202020204" pitchFamily="34" charset="0"/>
                <a:cs typeface="Arial" panose="020B0604020202020204" pitchFamily="34" charset="0"/>
              </a:rPr>
              <a:t>PROJECT FLOW DIAGRAM</a:t>
            </a:r>
            <a:endParaRPr lang="en-US" sz="4800" spc="-288" dirty="0">
              <a:solidFill>
                <a:schemeClr val="bg2">
                  <a:lumMod val="50000"/>
                </a:schemeClr>
              </a:solidFill>
              <a:latin typeface="Arial" panose="020B0604020202020204" pitchFamily="34" charset="0"/>
              <a:ea typeface="Open Sauce"/>
              <a:cs typeface="Arial" panose="020B0604020202020204" pitchFamily="34" charset="0"/>
              <a:sym typeface="Open Sauce"/>
            </a:endParaRPr>
          </a:p>
        </p:txBody>
      </p:sp>
      <p:pic>
        <p:nvPicPr>
          <p:cNvPr id="4" name="Content Placeholder 7">
            <a:extLst>
              <a:ext uri="{FF2B5EF4-FFF2-40B4-BE49-F238E27FC236}">
                <a16:creationId xmlns:a16="http://schemas.microsoft.com/office/drawing/2014/main" id="{4969B61C-6B3B-4ED2-8948-7753048E64F9}"/>
              </a:ext>
            </a:extLst>
          </p:cNvPr>
          <p:cNvPicPr>
            <a:picLocks noChangeAspect="1"/>
          </p:cNvPicPr>
          <p:nvPr/>
        </p:nvPicPr>
        <p:blipFill>
          <a:blip r:embed="rId2"/>
          <a:stretch>
            <a:fillRect/>
          </a:stretch>
        </p:blipFill>
        <p:spPr>
          <a:xfrm>
            <a:off x="4498181" y="2088494"/>
            <a:ext cx="9291638" cy="8198506"/>
          </a:xfrm>
          <a:prstGeom prst="rect">
            <a:avLst/>
          </a:prstGeom>
        </p:spPr>
      </p:pic>
    </p:spTree>
    <p:extLst>
      <p:ext uri="{BB962C8B-B14F-4D97-AF65-F5344CB8AC3E}">
        <p14:creationId xmlns:p14="http://schemas.microsoft.com/office/powerpoint/2010/main" val="2338052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200" y="1790700"/>
            <a:ext cx="8115300" cy="738664"/>
          </a:xfrm>
          <a:prstGeom prst="rect">
            <a:avLst/>
          </a:prstGeom>
        </p:spPr>
        <p:txBody>
          <a:bodyPr lIns="0" tIns="0" rIns="0" bIns="0" rtlCol="0" anchor="t">
            <a:spAutoFit/>
          </a:bodyPr>
          <a:lstStyle/>
          <a:p>
            <a:r>
              <a:rPr lang="en-US" sz="4800" b="1" dirty="0">
                <a:solidFill>
                  <a:schemeClr val="bg2">
                    <a:lumMod val="50000"/>
                  </a:schemeClr>
                </a:solidFill>
                <a:latin typeface="Arial" panose="020B0604020202020204" pitchFamily="34" charset="0"/>
                <a:cs typeface="Arial" panose="020B0604020202020204" pitchFamily="34" charset="0"/>
              </a:rPr>
              <a:t>METHODOLOGY</a:t>
            </a:r>
          </a:p>
        </p:txBody>
      </p:sp>
      <p:sp>
        <p:nvSpPr>
          <p:cNvPr id="5" name="TextBox 5"/>
          <p:cNvSpPr txBox="1"/>
          <p:nvPr/>
        </p:nvSpPr>
        <p:spPr>
          <a:xfrm>
            <a:off x="838200" y="3314700"/>
            <a:ext cx="16916400" cy="6032421"/>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800" b="1" dirty="0">
                <a:latin typeface="Arial" panose="020B0604020202020204" pitchFamily="34" charset="0"/>
                <a:cs typeface="Arial" panose="020B0604020202020204" pitchFamily="34" charset="0"/>
              </a:rPr>
              <a:t>Step 1 – </a:t>
            </a:r>
            <a:r>
              <a:rPr lang="en-US" sz="2800" dirty="0">
                <a:latin typeface="Arial" panose="020B0604020202020204" pitchFamily="34" charset="0"/>
                <a:cs typeface="Arial" panose="020B0604020202020204" pitchFamily="34" charset="0"/>
              </a:rPr>
              <a:t>User Input User enters a word (possibly misspelled). </a:t>
            </a:r>
          </a:p>
          <a:p>
            <a:r>
              <a:rPr lang="en-US" sz="2800" dirty="0">
                <a:latin typeface="Arial" panose="020B0604020202020204" pitchFamily="34" charset="0"/>
                <a:cs typeface="Arial" panose="020B0604020202020204" pitchFamily="34" charset="0"/>
              </a:rPr>
              <a:t>    Example: “</a:t>
            </a:r>
            <a:r>
              <a:rPr lang="en-US" sz="2800" dirty="0" err="1">
                <a:latin typeface="Arial" panose="020B0604020202020204" pitchFamily="34" charset="0"/>
                <a:cs typeface="Arial" panose="020B0604020202020204" pitchFamily="34" charset="0"/>
              </a:rPr>
              <a:t>aplpe</a:t>
            </a:r>
            <a:r>
              <a:rPr lang="en-US" sz="2800" dirty="0">
                <a:latin typeface="Arial" panose="020B0604020202020204" pitchFamily="34" charset="0"/>
                <a:cs typeface="Arial" panose="020B0604020202020204" pitchFamily="34" charset="0"/>
              </a:rPr>
              <a:t>” instead of “apple”</a:t>
            </a:r>
          </a:p>
          <a:p>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b="1" dirty="0">
                <a:latin typeface="Arial" panose="020B0604020202020204" pitchFamily="34" charset="0"/>
                <a:cs typeface="Arial" panose="020B0604020202020204" pitchFamily="34" charset="0"/>
              </a:rPr>
              <a:t>Step 2 – </a:t>
            </a:r>
            <a:r>
              <a:rPr lang="en-US" sz="2800" dirty="0">
                <a:latin typeface="Arial" panose="020B0604020202020204" pitchFamily="34" charset="0"/>
                <a:cs typeface="Arial" panose="020B0604020202020204" pitchFamily="34" charset="0"/>
              </a:rPr>
              <a:t>Preprocessing Normalize input (trim spaces, convert to lowercase). Load dictionary words from a text file.</a:t>
            </a:r>
          </a:p>
          <a:p>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b="1" dirty="0">
                <a:latin typeface="Arial" panose="020B0604020202020204" pitchFamily="34" charset="0"/>
                <a:cs typeface="Arial" panose="020B0604020202020204" pitchFamily="34" charset="0"/>
              </a:rPr>
              <a:t>Step 3 – </a:t>
            </a:r>
            <a:r>
              <a:rPr lang="en-US" sz="2800" dirty="0">
                <a:latin typeface="Arial" panose="020B0604020202020204" pitchFamily="34" charset="0"/>
                <a:cs typeface="Arial" panose="020B0604020202020204" pitchFamily="34" charset="0"/>
              </a:rPr>
              <a:t>Similarity Calculation: Apply </a:t>
            </a:r>
            <a:r>
              <a:rPr lang="en-US" sz="2800" dirty="0" err="1">
                <a:latin typeface="Arial" panose="020B0604020202020204" pitchFamily="34" charset="0"/>
                <a:cs typeface="Arial" panose="020B0604020202020204" pitchFamily="34" charset="0"/>
              </a:rPr>
              <a:t>Levenshtein</a:t>
            </a:r>
            <a:r>
              <a:rPr lang="en-US" sz="2800" dirty="0">
                <a:latin typeface="Arial" panose="020B0604020202020204" pitchFamily="34" charset="0"/>
                <a:cs typeface="Arial" panose="020B0604020202020204" pitchFamily="34" charset="0"/>
              </a:rPr>
              <a:t> Distance algorithm to measure edit distance. Formula: minimum number of insertions, deletions, or substitutions needed. </a:t>
            </a:r>
          </a:p>
          <a:p>
            <a:r>
              <a:rPr lang="en-US" sz="2800" dirty="0">
                <a:latin typeface="Arial" panose="020B0604020202020204" pitchFamily="34" charset="0"/>
                <a:cs typeface="Arial" panose="020B0604020202020204" pitchFamily="34" charset="0"/>
              </a:rPr>
              <a:t>   Example: </a:t>
            </a:r>
            <a:r>
              <a:rPr lang="en-US" sz="2800" dirty="0" err="1">
                <a:latin typeface="Arial" panose="020B0604020202020204" pitchFamily="34" charset="0"/>
                <a:cs typeface="Arial" panose="020B0604020202020204" pitchFamily="34" charset="0"/>
              </a:rPr>
              <a:t>aplpe</a:t>
            </a:r>
            <a:r>
              <a:rPr lang="en-US" sz="2800" dirty="0">
                <a:latin typeface="Arial" panose="020B0604020202020204" pitchFamily="34" charset="0"/>
                <a:cs typeface="Arial" panose="020B0604020202020204" pitchFamily="34" charset="0"/>
              </a:rPr>
              <a:t> → apple requires 2 edits.</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b="1" dirty="0">
                <a:latin typeface="Arial" panose="020B0604020202020204" pitchFamily="34" charset="0"/>
                <a:cs typeface="Arial" panose="020B0604020202020204" pitchFamily="34" charset="0"/>
              </a:rPr>
              <a:t>Step 4 – </a:t>
            </a:r>
            <a:r>
              <a:rPr lang="en-US" sz="2800" dirty="0">
                <a:latin typeface="Arial" panose="020B0604020202020204" pitchFamily="34" charset="0"/>
                <a:cs typeface="Arial" panose="020B0604020202020204" pitchFamily="34" charset="0"/>
              </a:rPr>
              <a:t>Matching &amp; Ranking Compare input with all dictionary words. Store similarity scores in a HashMap. Rank words by lowest edit distance (highest similarity).</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b="1" dirty="0">
                <a:latin typeface="Arial" panose="020B0604020202020204" pitchFamily="34" charset="0"/>
                <a:cs typeface="Arial" panose="020B0604020202020204" pitchFamily="34" charset="0"/>
              </a:rPr>
              <a:t>Step 5 – Output Generation</a:t>
            </a:r>
            <a:r>
              <a:rPr lang="en-US" sz="2800" dirty="0">
                <a:latin typeface="Arial" panose="020B0604020202020204" pitchFamily="34" charset="0"/>
                <a:cs typeface="Arial" panose="020B0604020202020204" pitchFamily="34" charset="0"/>
              </a:rPr>
              <a:t> Display top matches to the user. Results shown in order of similarity score.</a:t>
            </a:r>
          </a:p>
        </p:txBody>
      </p:sp>
    </p:spTree>
    <p:extLst>
      <p:ext uri="{BB962C8B-B14F-4D97-AF65-F5344CB8AC3E}">
        <p14:creationId xmlns:p14="http://schemas.microsoft.com/office/powerpoint/2010/main" val="2256886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199" y="906208"/>
            <a:ext cx="8115300" cy="738664"/>
          </a:xfrm>
          <a:prstGeom prst="rect">
            <a:avLst/>
          </a:prstGeom>
        </p:spPr>
        <p:txBody>
          <a:bodyPr lIns="0" tIns="0" rIns="0" bIns="0" rtlCol="0" anchor="t">
            <a:spAutoFit/>
          </a:bodyPr>
          <a:lstStyle/>
          <a:p>
            <a:r>
              <a:rPr lang="en-US" sz="4800" b="1" dirty="0">
                <a:solidFill>
                  <a:schemeClr val="bg2">
                    <a:lumMod val="50000"/>
                  </a:schemeClr>
                </a:solidFill>
                <a:latin typeface="Arial" panose="020B0604020202020204" pitchFamily="34" charset="0"/>
                <a:cs typeface="Arial" panose="020B0604020202020204" pitchFamily="34" charset="0"/>
              </a:rPr>
              <a:t>WEBSITE SNIPPETS</a:t>
            </a:r>
          </a:p>
        </p:txBody>
      </p:sp>
      <p:pic>
        <p:nvPicPr>
          <p:cNvPr id="2" name="Picture 1">
            <a:extLst>
              <a:ext uri="{FF2B5EF4-FFF2-40B4-BE49-F238E27FC236}">
                <a16:creationId xmlns:a16="http://schemas.microsoft.com/office/drawing/2014/main" id="{B3A7D226-610D-4430-AAC5-5551DEB9B968}"/>
              </a:ext>
            </a:extLst>
          </p:cNvPr>
          <p:cNvPicPr>
            <a:picLocks noChangeAspect="1"/>
          </p:cNvPicPr>
          <p:nvPr/>
        </p:nvPicPr>
        <p:blipFill>
          <a:blip r:embed="rId2"/>
          <a:stretch>
            <a:fillRect/>
          </a:stretch>
        </p:blipFill>
        <p:spPr>
          <a:xfrm>
            <a:off x="1652907" y="2781300"/>
            <a:ext cx="14601185" cy="6599492"/>
          </a:xfrm>
          <a:prstGeom prst="rect">
            <a:avLst/>
          </a:prstGeom>
        </p:spPr>
      </p:pic>
    </p:spTree>
    <p:extLst>
      <p:ext uri="{BB962C8B-B14F-4D97-AF65-F5344CB8AC3E}">
        <p14:creationId xmlns:p14="http://schemas.microsoft.com/office/powerpoint/2010/main" val="331359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8F82E0-D3D8-4F82-AC50-6C84CB69FAE3}"/>
              </a:ext>
            </a:extLst>
          </p:cNvPr>
          <p:cNvPicPr>
            <a:picLocks noChangeAspect="1"/>
          </p:cNvPicPr>
          <p:nvPr/>
        </p:nvPicPr>
        <p:blipFill>
          <a:blip r:embed="rId2"/>
          <a:stretch>
            <a:fillRect/>
          </a:stretch>
        </p:blipFill>
        <p:spPr>
          <a:xfrm>
            <a:off x="47983" y="876300"/>
            <a:ext cx="18192033" cy="8153400"/>
          </a:xfrm>
          <a:prstGeom prst="rect">
            <a:avLst/>
          </a:prstGeom>
        </p:spPr>
      </p:pic>
    </p:spTree>
    <p:extLst>
      <p:ext uri="{BB962C8B-B14F-4D97-AF65-F5344CB8AC3E}">
        <p14:creationId xmlns:p14="http://schemas.microsoft.com/office/powerpoint/2010/main" val="2370670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3" name="TextBox 3"/>
          <p:cNvSpPr txBox="1"/>
          <p:nvPr/>
        </p:nvSpPr>
        <p:spPr>
          <a:xfrm>
            <a:off x="838200" y="1790700"/>
            <a:ext cx="8115300" cy="619657"/>
          </a:xfrm>
          <a:prstGeom prst="rect">
            <a:avLst/>
          </a:prstGeom>
        </p:spPr>
        <p:txBody>
          <a:bodyPr lIns="0" tIns="0" rIns="0" bIns="0" rtlCol="0" anchor="t">
            <a:spAutoFit/>
          </a:bodyPr>
          <a:lstStyle/>
          <a:p>
            <a:pPr>
              <a:lnSpc>
                <a:spcPts val="4800"/>
              </a:lnSpc>
            </a:pPr>
            <a:r>
              <a:rPr lang="en-US" sz="4800" dirty="0">
                <a:solidFill>
                  <a:schemeClr val="bg2">
                    <a:lumMod val="50000"/>
                  </a:schemeClr>
                </a:solidFill>
                <a:latin typeface="Arial" panose="020B0604020202020204" pitchFamily="34" charset="0"/>
                <a:cs typeface="Arial" panose="020B0604020202020204" pitchFamily="34" charset="0"/>
              </a:rPr>
              <a:t>PROJECT SUMMARY</a:t>
            </a:r>
            <a:endParaRPr lang="en-US" sz="4800" spc="-288" dirty="0">
              <a:solidFill>
                <a:schemeClr val="bg2">
                  <a:lumMod val="50000"/>
                </a:schemeClr>
              </a:solidFill>
              <a:latin typeface="Arial" panose="020B0604020202020204" pitchFamily="34" charset="0"/>
              <a:ea typeface="Open Sauce"/>
              <a:cs typeface="Arial" panose="020B0604020202020204" pitchFamily="34" charset="0"/>
              <a:sym typeface="Open Sauce"/>
            </a:endParaRPr>
          </a:p>
        </p:txBody>
      </p:sp>
      <p:sp>
        <p:nvSpPr>
          <p:cNvPr id="5" name="TextBox 5"/>
          <p:cNvSpPr txBox="1"/>
          <p:nvPr/>
        </p:nvSpPr>
        <p:spPr>
          <a:xfrm>
            <a:off x="838200" y="3314700"/>
            <a:ext cx="16306800" cy="4924425"/>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3200" dirty="0">
                <a:latin typeface="Arial" panose="020B0604020202020204" pitchFamily="34" charset="0"/>
                <a:cs typeface="Arial" panose="020B0604020202020204" pitchFamily="34" charset="0"/>
              </a:rPr>
              <a:t>The fuzzy search system takes a word or search query entered by the user - it can be misspelled or incomplete.</a:t>
            </a:r>
          </a:p>
          <a:p>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dirty="0">
                <a:latin typeface="Arial" panose="020B0604020202020204" pitchFamily="34" charset="0"/>
                <a:cs typeface="Arial" panose="020B0604020202020204" pitchFamily="34" charset="0"/>
              </a:rPr>
              <a:t>It processes these results by scoring and ranking the closest matches, ensuring that even misspelled or imperfect queries return meaningful suggestions. </a:t>
            </a:r>
          </a:p>
          <a:p>
            <a:pPr marL="342900" indent="-3429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dirty="0">
                <a:latin typeface="Arial" panose="020B0604020202020204" pitchFamily="34" charset="0"/>
                <a:cs typeface="Arial" panose="020B0604020202020204" pitchFamily="34" charset="0"/>
              </a:rPr>
              <a:t>Finally, it outputs a clean list of ranked words, making the system practical for spell checkers, auto-complete features, and intelligent search engines.</a:t>
            </a:r>
          </a:p>
          <a:p>
            <a:pPr marL="342900" indent="-3429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3200" dirty="0">
                <a:latin typeface="Arial" panose="020B0604020202020204" pitchFamily="34" charset="0"/>
                <a:cs typeface="Arial" panose="020B0604020202020204" pitchFamily="34" charset="0"/>
              </a:rPr>
              <a:t>This process takes place by using edit distance algorithms like </a:t>
            </a:r>
            <a:r>
              <a:rPr lang="en-GB" sz="3200" dirty="0" err="1">
                <a:latin typeface="Arial" panose="020B0604020202020204" pitchFamily="34" charset="0"/>
                <a:cs typeface="Arial" panose="020B0604020202020204" pitchFamily="34" charset="0"/>
              </a:rPr>
              <a:t>Levenshtein</a:t>
            </a:r>
            <a:r>
              <a:rPr lang="en-GB" sz="3200" dirty="0">
                <a:latin typeface="Arial" panose="020B0604020202020204" pitchFamily="34" charset="0"/>
                <a:cs typeface="Arial" panose="020B0604020202020204" pitchFamily="34" charset="0"/>
              </a:rPr>
              <a:t> distance.</a:t>
            </a:r>
          </a:p>
        </p:txBody>
      </p:sp>
    </p:spTree>
    <p:extLst>
      <p:ext uri="{BB962C8B-B14F-4D97-AF65-F5344CB8AC3E}">
        <p14:creationId xmlns:p14="http://schemas.microsoft.com/office/powerpoint/2010/main" val="3662357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4191000" y="3924300"/>
            <a:ext cx="10910528" cy="1667123"/>
          </a:xfrm>
          <a:prstGeom prst="rect">
            <a:avLst/>
          </a:prstGeom>
        </p:spPr>
        <p:txBody>
          <a:bodyPr lIns="0" tIns="0" rIns="0" bIns="0" rtlCol="0" anchor="t">
            <a:spAutoFit/>
          </a:bodyPr>
          <a:lstStyle/>
          <a:p>
            <a:pPr algn="l">
              <a:lnSpc>
                <a:spcPts val="13040"/>
              </a:lnSpc>
            </a:pPr>
            <a:r>
              <a:rPr lang="en-US" sz="13040" spc="-782" dirty="0">
                <a:solidFill>
                  <a:schemeClr val="bg2">
                    <a:lumMod val="50000"/>
                  </a:schemeClr>
                </a:solidFill>
                <a:latin typeface="Arial" panose="020B0604020202020204" pitchFamily="34" charset="0"/>
                <a:ea typeface="Open Sauce"/>
                <a:cs typeface="Arial" panose="020B0604020202020204" pitchFamily="34" charset="0"/>
                <a:sym typeface="Open Sauc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574</Words>
  <Application>Microsoft Office PowerPoint</Application>
  <PresentationFormat>Custom</PresentationFormat>
  <Paragraphs>56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Open Sauce Bold</vt:lpstr>
      <vt:lpstr>Open Sauce</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Beige and Brown Simple Minimalist Clean Final Project Presentation</dc:title>
  <dc:creator>Havishaa Reddy</dc:creator>
  <cp:lastModifiedBy>MADHU</cp:lastModifiedBy>
  <cp:revision>5</cp:revision>
  <dcterms:created xsi:type="dcterms:W3CDTF">2006-08-16T00:00:00Z</dcterms:created>
  <dcterms:modified xsi:type="dcterms:W3CDTF">2026-09-30T12:58:51Z</dcterms:modified>
  <dc:identifier>DAHWrPOSvUA</dc:identifier>
</cp:coreProperties>
</file>