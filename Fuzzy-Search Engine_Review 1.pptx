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62" r:id="rId3"/>
    <p:sldId id="261" r:id="rId4"/>
    <p:sldId id="263" r:id="rId5"/>
    <p:sldId id="264" r:id="rId6"/>
    <p:sldId id="265" r:id="rId7"/>
    <p:sldId id="258" r:id="rId8"/>
    <p:sldId id="259"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839617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111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160341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67866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pPr/>
              <a:t>12-Oct-26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06784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1685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70122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463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8A87A34-81AB-432B-8DAE-1953F412C126}" type="datetimeFigureOut">
              <a:rPr lang="en-US" smtClean="0"/>
              <a:pPr/>
              <a:t>12-Oct-26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1220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1968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12-Oct-26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21749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8A87A34-81AB-432B-8DAE-1953F412C126}" type="datetimeFigureOut">
              <a:rPr lang="en-US" smtClean="0"/>
              <a:pPr/>
              <a:t>12-Oct-26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924103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ECC9-CAD9-4862-9C42-60BADACFFB1C}"/>
              </a:ext>
            </a:extLst>
          </p:cNvPr>
          <p:cNvSpPr>
            <a:spLocks noGrp="1"/>
          </p:cNvSpPr>
          <p:nvPr>
            <p:ph type="ctrTitle"/>
          </p:nvPr>
        </p:nvSpPr>
        <p:spPr>
          <a:xfrm>
            <a:off x="726141" y="1192369"/>
            <a:ext cx="10739718" cy="2541431"/>
          </a:xfrm>
        </p:spPr>
        <p:txBody>
          <a:bodyPr>
            <a:normAutofit fontScale="90000"/>
          </a:bodyPr>
          <a:lstStyle/>
          <a:p>
            <a:pPr algn="ctr"/>
            <a:r>
              <a:rPr lang="en-US" sz="4400" dirty="0"/>
              <a:t>Fuzzy-Search Engine</a:t>
            </a:r>
            <a:br>
              <a:rPr lang="en-US" sz="4400" dirty="0"/>
            </a:br>
            <a:br>
              <a:rPr lang="en-US" sz="4400" dirty="0"/>
            </a:br>
            <a:r>
              <a:rPr lang="en-US" sz="4400" dirty="0"/>
              <a:t>AN Error-Tolerant Word Retrieval</a:t>
            </a:r>
            <a:endParaRPr lang="en-GB" sz="4400" dirty="0"/>
          </a:p>
        </p:txBody>
      </p:sp>
      <p:sp>
        <p:nvSpPr>
          <p:cNvPr id="3" name="Subtitle 2">
            <a:extLst>
              <a:ext uri="{FF2B5EF4-FFF2-40B4-BE49-F238E27FC236}">
                <a16:creationId xmlns:a16="http://schemas.microsoft.com/office/drawing/2014/main" id="{6FA71DA4-8342-4E8D-A226-E7F674DC2BA4}"/>
              </a:ext>
            </a:extLst>
          </p:cNvPr>
          <p:cNvSpPr>
            <a:spLocks noGrp="1"/>
          </p:cNvSpPr>
          <p:nvPr>
            <p:ph type="subTitle" idx="1"/>
          </p:nvPr>
        </p:nvSpPr>
        <p:spPr>
          <a:xfrm>
            <a:off x="7377953" y="4728808"/>
            <a:ext cx="4706471" cy="1784338"/>
          </a:xfrm>
        </p:spPr>
        <p:txBody>
          <a:bodyPr>
            <a:normAutofit fontScale="92500" lnSpcReduction="20000"/>
          </a:bodyPr>
          <a:lstStyle/>
          <a:p>
            <a:r>
              <a:rPr lang="en-US" dirty="0"/>
              <a:t>Section 3</a:t>
            </a:r>
          </a:p>
          <a:p>
            <a:r>
              <a:rPr lang="en-US" dirty="0"/>
              <a:t>Team 4</a:t>
            </a:r>
            <a:br>
              <a:rPr lang="en-US" dirty="0"/>
            </a:br>
            <a:br>
              <a:rPr lang="en-US" dirty="0"/>
            </a:br>
            <a:r>
              <a:rPr lang="en-US" dirty="0"/>
              <a:t>Team members:</a:t>
            </a:r>
          </a:p>
          <a:p>
            <a:r>
              <a:rPr lang="en-US" dirty="0"/>
              <a:t>2520030159 – B. HEMA SRI</a:t>
            </a:r>
            <a:br>
              <a:rPr lang="en-US" dirty="0"/>
            </a:br>
            <a:r>
              <a:rPr lang="en-US" dirty="0"/>
              <a:t>2520030371 – P. HAVISHAA REDDY</a:t>
            </a:r>
            <a:endParaRPr lang="en-GB" dirty="0"/>
          </a:p>
        </p:txBody>
      </p:sp>
      <p:pic>
        <p:nvPicPr>
          <p:cNvPr id="5" name="Picture 4">
            <a:extLst>
              <a:ext uri="{FF2B5EF4-FFF2-40B4-BE49-F238E27FC236}">
                <a16:creationId xmlns:a16="http://schemas.microsoft.com/office/drawing/2014/main" id="{52B4AB48-CA07-4DDA-A5EB-D6D4A8692EA3}"/>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249704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8850-DB40-471A-9553-6659C7720EE3}"/>
              </a:ext>
            </a:extLst>
          </p:cNvPr>
          <p:cNvSpPr>
            <a:spLocks noGrp="1"/>
          </p:cNvSpPr>
          <p:nvPr>
            <p:ph type="title"/>
          </p:nvPr>
        </p:nvSpPr>
        <p:spPr/>
        <p:txBody>
          <a:bodyPr/>
          <a:lstStyle/>
          <a:p>
            <a:r>
              <a:rPr lang="en-US" dirty="0"/>
              <a:t>Abstract</a:t>
            </a:r>
            <a:endParaRPr lang="en-GB" dirty="0"/>
          </a:p>
        </p:txBody>
      </p:sp>
      <p:sp>
        <p:nvSpPr>
          <p:cNvPr id="3" name="Content Placeholder 2">
            <a:extLst>
              <a:ext uri="{FF2B5EF4-FFF2-40B4-BE49-F238E27FC236}">
                <a16:creationId xmlns:a16="http://schemas.microsoft.com/office/drawing/2014/main" id="{14B84B8D-57CE-4224-A2A3-B9BF540D887C}"/>
              </a:ext>
            </a:extLst>
          </p:cNvPr>
          <p:cNvSpPr>
            <a:spLocks noGrp="1"/>
          </p:cNvSpPr>
          <p:nvPr>
            <p:ph idx="1"/>
          </p:nvPr>
        </p:nvSpPr>
        <p:spPr>
          <a:xfrm>
            <a:off x="2231135" y="2638044"/>
            <a:ext cx="7943805" cy="3610356"/>
          </a:xfrm>
        </p:spPr>
        <p:txBody>
          <a:bodyPr>
            <a:normAutofit fontScale="92500" lnSpcReduction="10000"/>
          </a:bodyPr>
          <a:lstStyle/>
          <a:p>
            <a:r>
              <a:rPr lang="en-US" dirty="0"/>
              <a:t>This project builds a fuzzy search system that helps users find correct results even when they make typing mistakes. Instead of rejecting misspelled queries, the system compares the entered word with dictionary entries using the </a:t>
            </a:r>
            <a:r>
              <a:rPr lang="en-US" dirty="0" err="1"/>
              <a:t>Levenshtein</a:t>
            </a:r>
            <a:r>
              <a:rPr lang="en-US" dirty="0"/>
              <a:t> Distance algorithm. This algorithm calculates similarity by counting the number of edits needed to change one word into another. </a:t>
            </a:r>
          </a:p>
          <a:p>
            <a:r>
              <a:rPr lang="en-US" dirty="0"/>
              <a:t>Based on these similarity scores, the system ranks possible matches and suggests the most relevant ones. The design is efficient, allowing it to handle very large dictionaries and support multiple languages without slowing down. This makes the system suitable for applications such as spell checkers, auto‑complete tools, intelligent search engines, and text‑based platforms where speed and accuracy are important. </a:t>
            </a:r>
          </a:p>
          <a:p>
            <a:r>
              <a:rPr lang="en-US" dirty="0"/>
              <a:t>By tolerating small errors, the fuzzy search reduces frustration, improves accessibility, and ensures meaningful results quickly. Overall, it shows how smart algorithms can make digital interactions smoother, more reliable, and inclusive across languages and contexts.</a:t>
            </a:r>
            <a:endParaRPr lang="en-GB" dirty="0"/>
          </a:p>
        </p:txBody>
      </p:sp>
      <p:pic>
        <p:nvPicPr>
          <p:cNvPr id="5" name="Picture 4">
            <a:extLst>
              <a:ext uri="{FF2B5EF4-FFF2-40B4-BE49-F238E27FC236}">
                <a16:creationId xmlns:a16="http://schemas.microsoft.com/office/drawing/2014/main" id="{E8CC0F76-E556-4918-8D1B-F0A8CD7AFF49}"/>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1678434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5A11-6938-4F14-B925-D3BBF192F0E2}"/>
              </a:ext>
            </a:extLst>
          </p:cNvPr>
          <p:cNvSpPr>
            <a:spLocks noGrp="1"/>
          </p:cNvSpPr>
          <p:nvPr>
            <p:ph type="title"/>
          </p:nvPr>
        </p:nvSpPr>
        <p:spPr/>
        <p:txBody>
          <a:bodyPr/>
          <a:lstStyle/>
          <a:p>
            <a:r>
              <a:rPr lang="en-US" dirty="0"/>
              <a:t>Problem statement</a:t>
            </a:r>
            <a:endParaRPr lang="en-GB" dirty="0"/>
          </a:p>
        </p:txBody>
      </p:sp>
      <p:sp>
        <p:nvSpPr>
          <p:cNvPr id="4" name="Rectangle 1">
            <a:extLst>
              <a:ext uri="{FF2B5EF4-FFF2-40B4-BE49-F238E27FC236}">
                <a16:creationId xmlns:a16="http://schemas.microsoft.com/office/drawing/2014/main" id="{58844195-6A2C-43D8-B23C-1B32312D75BC}"/>
              </a:ext>
            </a:extLst>
          </p:cNvPr>
          <p:cNvSpPr>
            <a:spLocks noGrp="1" noChangeArrowheads="1"/>
          </p:cNvSpPr>
          <p:nvPr>
            <p:ph idx="1"/>
          </p:nvPr>
        </p:nvSpPr>
        <p:spPr bwMode="auto">
          <a:xfrm>
            <a:off x="2155700" y="2883775"/>
            <a:ext cx="817140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rPr>
              <a:t>People often type search queries with spelling mistakes.</a:t>
            </a: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rPr>
              <a:t>Current search systems fail to return useful results when errors occur.</a:t>
            </a: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rPr>
              <a:t>This makes searching frustrating and less effective.</a:t>
            </a: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rPr>
              <a:t>A fuzzy search system is needed to handle typos and still provide relevant matches.</a:t>
            </a:r>
          </a:p>
          <a:p>
            <a:pPr marL="0" indent="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eaLnBrk="0" fontAlgn="base" hangingPunct="0">
              <a:spcBef>
                <a:spcPct val="0"/>
              </a:spcBef>
              <a:spcAft>
                <a:spcPct val="0"/>
              </a:spcAft>
              <a:buClrTx/>
            </a:pPr>
            <a:r>
              <a:rPr kumimoji="0" lang="en-US" altLang="en-US" sz="1800" b="0" i="0" u="none" strike="noStrike" cap="none" normalizeH="0" baseline="0" dirty="0">
                <a:ln>
                  <a:noFill/>
                </a:ln>
                <a:solidFill>
                  <a:schemeClr val="tx1"/>
                </a:solidFill>
                <a:effectLst/>
              </a:rPr>
              <a:t>The goal is to make searching smoother and more reliable for users.</a:t>
            </a:r>
          </a:p>
        </p:txBody>
      </p:sp>
      <p:pic>
        <p:nvPicPr>
          <p:cNvPr id="5" name="Picture 4">
            <a:extLst>
              <a:ext uri="{FF2B5EF4-FFF2-40B4-BE49-F238E27FC236}">
                <a16:creationId xmlns:a16="http://schemas.microsoft.com/office/drawing/2014/main" id="{8C8C0E07-88CC-4583-B3E9-5F11C5502447}"/>
              </a:ext>
            </a:extLst>
          </p:cNvPr>
          <p:cNvPicPr>
            <a:picLocks noChangeAspect="1"/>
          </p:cNvPicPr>
          <p:nvPr/>
        </p:nvPicPr>
        <p:blipFill>
          <a:blip r:embed="rId2"/>
          <a:stretch>
            <a:fillRect/>
          </a:stretch>
        </p:blipFill>
        <p:spPr>
          <a:xfrm>
            <a:off x="17929" y="0"/>
            <a:ext cx="1600339" cy="662997"/>
          </a:xfrm>
          <a:prstGeom prst="rect">
            <a:avLst/>
          </a:prstGeom>
        </p:spPr>
      </p:pic>
    </p:spTree>
    <p:extLst>
      <p:ext uri="{BB962C8B-B14F-4D97-AF65-F5344CB8AC3E}">
        <p14:creationId xmlns:p14="http://schemas.microsoft.com/office/powerpoint/2010/main" val="766297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8A259-8A10-4775-A73A-FD322841A77B}"/>
              </a:ext>
            </a:extLst>
          </p:cNvPr>
          <p:cNvSpPr>
            <a:spLocks noGrp="1"/>
          </p:cNvSpPr>
          <p:nvPr>
            <p:ph type="title"/>
          </p:nvPr>
        </p:nvSpPr>
        <p:spPr/>
        <p:txBody>
          <a:bodyPr/>
          <a:lstStyle/>
          <a:p>
            <a:r>
              <a:rPr lang="en-US" dirty="0"/>
              <a:t>Proposed functionalities</a:t>
            </a:r>
            <a:endParaRPr lang="en-GB" dirty="0"/>
          </a:p>
        </p:txBody>
      </p:sp>
      <p:sp>
        <p:nvSpPr>
          <p:cNvPr id="3" name="Content Placeholder 2">
            <a:extLst>
              <a:ext uri="{FF2B5EF4-FFF2-40B4-BE49-F238E27FC236}">
                <a16:creationId xmlns:a16="http://schemas.microsoft.com/office/drawing/2014/main" id="{A8235778-1623-4277-AF2B-78D6C8E76BB2}"/>
              </a:ext>
            </a:extLst>
          </p:cNvPr>
          <p:cNvSpPr>
            <a:spLocks noGrp="1"/>
          </p:cNvSpPr>
          <p:nvPr>
            <p:ph idx="1"/>
          </p:nvPr>
        </p:nvSpPr>
        <p:spPr>
          <a:xfrm>
            <a:off x="2231136" y="2638044"/>
            <a:ext cx="7729728" cy="3556568"/>
          </a:xfrm>
        </p:spPr>
        <p:txBody>
          <a:bodyPr>
            <a:normAutofit/>
          </a:bodyPr>
          <a:lstStyle/>
          <a:p>
            <a:r>
              <a:rPr lang="en-US" b="1" dirty="0"/>
              <a:t>Error‑tolerant search</a:t>
            </a:r>
            <a:r>
              <a:rPr lang="en-US" dirty="0"/>
              <a:t>: Accepts misspelled queries and still finds relevant results.</a:t>
            </a:r>
          </a:p>
          <a:p>
            <a:r>
              <a:rPr lang="en-US" b="1" dirty="0"/>
              <a:t>Edit distance calculation</a:t>
            </a:r>
            <a:r>
              <a:rPr lang="en-US" dirty="0"/>
              <a:t>: Uses </a:t>
            </a:r>
            <a:r>
              <a:rPr lang="en-US" dirty="0" err="1"/>
              <a:t>Levenshtein</a:t>
            </a:r>
            <a:r>
              <a:rPr lang="en-US" dirty="0"/>
              <a:t> Distance to measure similarity between input and dictionary words.</a:t>
            </a:r>
          </a:p>
          <a:p>
            <a:r>
              <a:rPr lang="en-US" b="1" dirty="0"/>
              <a:t>Ranking system</a:t>
            </a:r>
            <a:r>
              <a:rPr lang="en-US" dirty="0"/>
              <a:t>: Scores and sorts matches based on closeness to the query.</a:t>
            </a:r>
          </a:p>
          <a:p>
            <a:r>
              <a:rPr lang="en-US" b="1" dirty="0"/>
              <a:t>Large dictionary support</a:t>
            </a:r>
            <a:r>
              <a:rPr lang="en-US" dirty="0"/>
              <a:t>: Efficiently handles big word lists without slowing down.</a:t>
            </a:r>
          </a:p>
          <a:p>
            <a:r>
              <a:rPr lang="en-US" b="1" dirty="0"/>
              <a:t>Multilingual capability</a:t>
            </a:r>
            <a:r>
              <a:rPr lang="en-US" dirty="0"/>
              <a:t>: Works across multiple languages for wider usability.</a:t>
            </a:r>
          </a:p>
          <a:p>
            <a:r>
              <a:rPr lang="en-US" b="1" dirty="0"/>
              <a:t>Practical integration</a:t>
            </a:r>
            <a:r>
              <a:rPr lang="en-US" dirty="0"/>
              <a:t>: Can be applied in spell checkers, auto‑complete tools, and intelligent search engines.</a:t>
            </a:r>
          </a:p>
          <a:p>
            <a:endParaRPr lang="en-GB" dirty="0"/>
          </a:p>
        </p:txBody>
      </p:sp>
      <p:pic>
        <p:nvPicPr>
          <p:cNvPr id="5" name="Picture 4">
            <a:extLst>
              <a:ext uri="{FF2B5EF4-FFF2-40B4-BE49-F238E27FC236}">
                <a16:creationId xmlns:a16="http://schemas.microsoft.com/office/drawing/2014/main" id="{9312D29D-48AE-47DF-BE53-66F438F475B9}"/>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394702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99C5-8C71-46C2-9E7D-1A9992A2FFED}"/>
              </a:ext>
            </a:extLst>
          </p:cNvPr>
          <p:cNvSpPr>
            <a:spLocks noGrp="1"/>
          </p:cNvSpPr>
          <p:nvPr>
            <p:ph type="title"/>
          </p:nvPr>
        </p:nvSpPr>
        <p:spPr/>
        <p:txBody>
          <a:bodyPr/>
          <a:lstStyle/>
          <a:p>
            <a:r>
              <a:rPr lang="en-US" dirty="0"/>
              <a:t>Tools and Technologies to be used</a:t>
            </a:r>
            <a:endParaRPr lang="en-GB" dirty="0"/>
          </a:p>
        </p:txBody>
      </p:sp>
      <p:sp>
        <p:nvSpPr>
          <p:cNvPr id="4" name="Rectangle 1">
            <a:extLst>
              <a:ext uri="{FF2B5EF4-FFF2-40B4-BE49-F238E27FC236}">
                <a16:creationId xmlns:a16="http://schemas.microsoft.com/office/drawing/2014/main" id="{6BA94778-D898-4CB2-822F-BBFA8B8FF9D1}"/>
              </a:ext>
            </a:extLst>
          </p:cNvPr>
          <p:cNvSpPr>
            <a:spLocks noGrp="1" noChangeArrowheads="1"/>
          </p:cNvSpPr>
          <p:nvPr>
            <p:ph idx="1"/>
          </p:nvPr>
        </p:nvSpPr>
        <p:spPr bwMode="auto">
          <a:xfrm>
            <a:off x="2607653" y="2619377"/>
            <a:ext cx="581268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Language</a:t>
            </a:r>
            <a:r>
              <a:rPr kumimoji="0" lang="en-US" altLang="en-US" sz="1800" b="0" i="0" u="none" strike="noStrike" cap="none" normalizeH="0" baseline="0" dirty="0">
                <a:ln>
                  <a:noFill/>
                </a:ln>
                <a:solidFill>
                  <a:schemeClr val="tx1"/>
                </a:solidFill>
                <a:effectLst/>
              </a:rPr>
              <a:t>: Java.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Algorithm</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Levenshtein</a:t>
            </a:r>
            <a:r>
              <a:rPr kumimoji="0" lang="en-US" altLang="en-US" sz="1800" b="0" i="0" u="none" strike="noStrike" cap="none" normalizeH="0" baseline="0" dirty="0">
                <a:ln>
                  <a:noFill/>
                </a:ln>
                <a:solidFill>
                  <a:schemeClr val="tx1"/>
                </a:solidFill>
                <a:effectLst/>
              </a:rPr>
              <a:t> distance (Edit Distance).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Data Structures</a:t>
            </a:r>
            <a:r>
              <a:rPr kumimoji="0" lang="en-US" altLang="en-US" sz="1800" b="0" i="0" u="none" strike="noStrike" cap="none" normalizeH="0" baseline="0" dirty="0">
                <a:ln>
                  <a:noFill/>
                </a:ln>
                <a:solidFill>
                  <a:schemeClr val="tx1"/>
                </a:solidFill>
                <a:effectLst/>
              </a:rPr>
              <a:t>: Arrays, Strings, HashMap.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IDE/Editor</a:t>
            </a:r>
            <a:r>
              <a:rPr kumimoji="0" lang="en-US" altLang="en-US" sz="1800" b="0" i="0" u="none" strike="noStrike" cap="none" normalizeH="0" baseline="0" dirty="0">
                <a:ln>
                  <a:noFill/>
                </a:ln>
                <a:solidFill>
                  <a:schemeClr val="tx1"/>
                </a:solidFill>
                <a:effectLst/>
              </a:rPr>
              <a:t>: Visual Studio Code (with Java Extension Pack).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Testing</a:t>
            </a:r>
            <a:r>
              <a:rPr kumimoji="0" lang="en-US" altLang="en-US" sz="1800" b="0" i="0" u="none" strike="noStrike" cap="none" normalizeH="0" baseline="0" dirty="0">
                <a:ln>
                  <a:noFill/>
                </a:ln>
                <a:solidFill>
                  <a:schemeClr val="tx1"/>
                </a:solidFill>
                <a:effectLst/>
              </a:rPr>
              <a:t>: JUnit (basic unit testing).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Dictionary Source</a:t>
            </a:r>
            <a:r>
              <a:rPr kumimoji="0" lang="en-US" altLang="en-US" sz="1800" b="0" i="0" u="none" strike="noStrike" cap="none" normalizeH="0" baseline="0" dirty="0">
                <a:ln>
                  <a:noFill/>
                </a:ln>
                <a:solidFill>
                  <a:schemeClr val="tx1"/>
                </a:solidFill>
                <a:effectLst/>
              </a:rPr>
              <a:t>: Text files (word lists).</a:t>
            </a:r>
          </a:p>
        </p:txBody>
      </p:sp>
      <p:pic>
        <p:nvPicPr>
          <p:cNvPr id="5" name="Picture 4">
            <a:extLst>
              <a:ext uri="{FF2B5EF4-FFF2-40B4-BE49-F238E27FC236}">
                <a16:creationId xmlns:a16="http://schemas.microsoft.com/office/drawing/2014/main" id="{B1377CE6-0877-40F7-8A5A-5217C6260BB7}"/>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1711236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BA36D-10FD-4CA8-9D94-91E096020F2E}"/>
              </a:ext>
            </a:extLst>
          </p:cNvPr>
          <p:cNvSpPr>
            <a:spLocks noGrp="1"/>
          </p:cNvSpPr>
          <p:nvPr>
            <p:ph type="title"/>
          </p:nvPr>
        </p:nvSpPr>
        <p:spPr/>
        <p:txBody>
          <a:bodyPr/>
          <a:lstStyle/>
          <a:p>
            <a:r>
              <a:rPr lang="en-GB" dirty="0"/>
              <a:t>Expected Outcome</a:t>
            </a:r>
          </a:p>
        </p:txBody>
      </p:sp>
      <p:sp>
        <p:nvSpPr>
          <p:cNvPr id="4" name="Rectangle 1">
            <a:extLst>
              <a:ext uri="{FF2B5EF4-FFF2-40B4-BE49-F238E27FC236}">
                <a16:creationId xmlns:a16="http://schemas.microsoft.com/office/drawing/2014/main" id="{3AEFD144-77F9-4375-9F39-F709B841DDDC}"/>
              </a:ext>
            </a:extLst>
          </p:cNvPr>
          <p:cNvSpPr>
            <a:spLocks noGrp="1" noChangeArrowheads="1"/>
          </p:cNvSpPr>
          <p:nvPr>
            <p:ph idx="1"/>
          </p:nvPr>
        </p:nvSpPr>
        <p:spPr bwMode="auto">
          <a:xfrm>
            <a:off x="1693254" y="2512708"/>
            <a:ext cx="889660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system will accurately return relevant results even when queries contain spelling errors.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Suggested matches will be ranked according to similarity scores for improved precision.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solution will efficiently process large dictionaries without performance degradation.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Multilingual support will enable broader applicability across diverse user groups.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Overall search experience will be enhanced through faster, reliable, and user‑friendly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solidFill>
                  <a:schemeClr val="tx1"/>
                </a:solidFill>
              </a:rPr>
              <a:t>  </a:t>
            </a:r>
            <a:r>
              <a:rPr kumimoji="0" lang="en-US" altLang="en-US" sz="1800" b="0" i="0" u="none" strike="noStrike" cap="none" normalizeH="0" baseline="0" dirty="0">
                <a:ln>
                  <a:noFill/>
                </a:ln>
                <a:solidFill>
                  <a:schemeClr val="tx1"/>
                </a:solidFill>
                <a:effectLst/>
              </a:rPr>
              <a:t>interactions.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project will demonstrate practical utility in applications such as spell checkers,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auto‑complete tools, and intelligent search engines.</a:t>
            </a:r>
          </a:p>
        </p:txBody>
      </p:sp>
      <p:pic>
        <p:nvPicPr>
          <p:cNvPr id="5" name="Picture 4">
            <a:extLst>
              <a:ext uri="{FF2B5EF4-FFF2-40B4-BE49-F238E27FC236}">
                <a16:creationId xmlns:a16="http://schemas.microsoft.com/office/drawing/2014/main" id="{E99D725D-43F1-4395-AD85-A4543C2C297E}"/>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3226504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744BF-1BB3-4F33-B452-8B24B62C04B1}"/>
              </a:ext>
            </a:extLst>
          </p:cNvPr>
          <p:cNvSpPr>
            <a:spLocks noGrp="1"/>
          </p:cNvSpPr>
          <p:nvPr>
            <p:ph type="title"/>
          </p:nvPr>
        </p:nvSpPr>
        <p:spPr>
          <a:xfrm>
            <a:off x="2231136" y="238551"/>
            <a:ext cx="7729728" cy="1188720"/>
          </a:xfrm>
        </p:spPr>
        <p:txBody>
          <a:bodyPr/>
          <a:lstStyle/>
          <a:p>
            <a:r>
              <a:rPr lang="en-US" dirty="0"/>
              <a:t>PROJECT FLOW DIAGRAM</a:t>
            </a:r>
            <a:endParaRPr lang="en-GB" dirty="0"/>
          </a:p>
        </p:txBody>
      </p:sp>
      <p:pic>
        <p:nvPicPr>
          <p:cNvPr id="8" name="Content Placeholder 7">
            <a:extLst>
              <a:ext uri="{FF2B5EF4-FFF2-40B4-BE49-F238E27FC236}">
                <a16:creationId xmlns:a16="http://schemas.microsoft.com/office/drawing/2014/main" id="{EF0DD4D0-065F-4116-A523-C301B3C447B0}"/>
              </a:ext>
            </a:extLst>
          </p:cNvPr>
          <p:cNvPicPr>
            <a:picLocks noGrp="1" noChangeAspect="1"/>
          </p:cNvPicPr>
          <p:nvPr>
            <p:ph idx="1"/>
          </p:nvPr>
        </p:nvPicPr>
        <p:blipFill>
          <a:blip r:embed="rId2"/>
          <a:stretch>
            <a:fillRect/>
          </a:stretch>
        </p:blipFill>
        <p:spPr>
          <a:xfrm>
            <a:off x="2804611" y="1299883"/>
            <a:ext cx="6582777" cy="5808334"/>
          </a:xfrm>
        </p:spPr>
      </p:pic>
      <p:pic>
        <p:nvPicPr>
          <p:cNvPr id="4" name="Picture 3">
            <a:extLst>
              <a:ext uri="{FF2B5EF4-FFF2-40B4-BE49-F238E27FC236}">
                <a16:creationId xmlns:a16="http://schemas.microsoft.com/office/drawing/2014/main" id="{34EF8376-7F67-45DE-8436-C8F8317F4E46}"/>
              </a:ext>
            </a:extLst>
          </p:cNvPr>
          <p:cNvPicPr>
            <a:picLocks noChangeAspect="1"/>
          </p:cNvPicPr>
          <p:nvPr/>
        </p:nvPicPr>
        <p:blipFill>
          <a:blip r:embed="rId3"/>
          <a:stretch>
            <a:fillRect/>
          </a:stretch>
        </p:blipFill>
        <p:spPr>
          <a:xfrm>
            <a:off x="0" y="0"/>
            <a:ext cx="1600339" cy="662997"/>
          </a:xfrm>
          <a:prstGeom prst="rect">
            <a:avLst/>
          </a:prstGeom>
        </p:spPr>
      </p:pic>
    </p:spTree>
    <p:extLst>
      <p:ext uri="{BB962C8B-B14F-4D97-AF65-F5344CB8AC3E}">
        <p14:creationId xmlns:p14="http://schemas.microsoft.com/office/powerpoint/2010/main" val="2712622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796D2-2B05-4A21-84D3-846780CC3EF6}"/>
              </a:ext>
            </a:extLst>
          </p:cNvPr>
          <p:cNvSpPr>
            <a:spLocks noGrp="1"/>
          </p:cNvSpPr>
          <p:nvPr>
            <p:ph type="title"/>
          </p:nvPr>
        </p:nvSpPr>
        <p:spPr/>
        <p:txBody>
          <a:bodyPr/>
          <a:lstStyle/>
          <a:p>
            <a:r>
              <a:rPr lang="en-US" dirty="0"/>
              <a:t>PROJECT SUMMARY</a:t>
            </a:r>
            <a:endParaRPr lang="en-GB" dirty="0"/>
          </a:p>
        </p:txBody>
      </p:sp>
      <p:sp>
        <p:nvSpPr>
          <p:cNvPr id="3" name="Content Placeholder 2">
            <a:extLst>
              <a:ext uri="{FF2B5EF4-FFF2-40B4-BE49-F238E27FC236}">
                <a16:creationId xmlns:a16="http://schemas.microsoft.com/office/drawing/2014/main" id="{6279E214-F4DB-4E6E-BD22-D1B5E005798F}"/>
              </a:ext>
            </a:extLst>
          </p:cNvPr>
          <p:cNvSpPr>
            <a:spLocks noGrp="1"/>
          </p:cNvSpPr>
          <p:nvPr>
            <p:ph idx="1"/>
          </p:nvPr>
        </p:nvSpPr>
        <p:spPr>
          <a:xfrm>
            <a:off x="1039905" y="2638044"/>
            <a:ext cx="10551459" cy="3565532"/>
          </a:xfrm>
        </p:spPr>
        <p:txBody>
          <a:bodyPr>
            <a:normAutofit/>
          </a:bodyPr>
          <a:lstStyle/>
          <a:p>
            <a:r>
              <a:rPr lang="en-US" sz="2000" dirty="0"/>
              <a:t>The fuzzy search system takes a word or search query entered by the user - it can be misspelled or incomplete.</a:t>
            </a:r>
          </a:p>
          <a:p>
            <a:r>
              <a:rPr lang="en-US" sz="2000" dirty="0"/>
              <a:t>It processes these results by scoring and ranking the closest matches, ensuring that even misspelled or imperfect queries return meaningful suggestions. </a:t>
            </a:r>
          </a:p>
          <a:p>
            <a:r>
              <a:rPr lang="en-US" sz="2000" dirty="0"/>
              <a:t>Finally, it outputs a clean list of ranked words, making the system practical for spell checkers, auto-complete features, and intelligent search engines.</a:t>
            </a:r>
          </a:p>
          <a:p>
            <a:r>
              <a:rPr lang="en-US" sz="2000" dirty="0">
                <a:solidFill>
                  <a:schemeClr val="tx1"/>
                </a:solidFill>
              </a:rPr>
              <a:t>This process takes place by using edit distance algorithms like </a:t>
            </a:r>
            <a:r>
              <a:rPr lang="en-GB" sz="2000" dirty="0" err="1"/>
              <a:t>Levenshtein</a:t>
            </a:r>
            <a:r>
              <a:rPr lang="en-GB" sz="2000" dirty="0"/>
              <a:t> distance.</a:t>
            </a:r>
            <a:endParaRPr lang="en-GB" sz="2000" dirty="0">
              <a:solidFill>
                <a:schemeClr val="tx1"/>
              </a:solidFill>
            </a:endParaRPr>
          </a:p>
        </p:txBody>
      </p:sp>
      <p:pic>
        <p:nvPicPr>
          <p:cNvPr id="5" name="Picture 4">
            <a:extLst>
              <a:ext uri="{FF2B5EF4-FFF2-40B4-BE49-F238E27FC236}">
                <a16:creationId xmlns:a16="http://schemas.microsoft.com/office/drawing/2014/main" id="{4C58B782-4355-4EEA-8740-5743E1A7B837}"/>
              </a:ext>
            </a:extLst>
          </p:cNvPr>
          <p:cNvPicPr>
            <a:picLocks noChangeAspect="1"/>
          </p:cNvPicPr>
          <p:nvPr/>
        </p:nvPicPr>
        <p:blipFill>
          <a:blip r:embed="rId2"/>
          <a:stretch>
            <a:fillRect/>
          </a:stretch>
        </p:blipFill>
        <p:spPr>
          <a:xfrm>
            <a:off x="0" y="0"/>
            <a:ext cx="1600339" cy="662997"/>
          </a:xfrm>
          <a:prstGeom prst="rect">
            <a:avLst/>
          </a:prstGeom>
        </p:spPr>
      </p:pic>
    </p:spTree>
    <p:extLst>
      <p:ext uri="{BB962C8B-B14F-4D97-AF65-F5344CB8AC3E}">
        <p14:creationId xmlns:p14="http://schemas.microsoft.com/office/powerpoint/2010/main" val="640358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Images - Free Download on Magnific (formerly Freepik)">
            <a:extLst>
              <a:ext uri="{FF2B5EF4-FFF2-40B4-BE49-F238E27FC236}">
                <a16:creationId xmlns:a16="http://schemas.microsoft.com/office/drawing/2014/main" id="{7736C86C-9CA8-440D-A786-A597248B87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0" y="933450"/>
            <a:ext cx="7048500" cy="49911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D84457C-6A16-4DF8-8A4B-81643AD054CC}"/>
              </a:ext>
            </a:extLst>
          </p:cNvPr>
          <p:cNvPicPr>
            <a:picLocks noChangeAspect="1"/>
          </p:cNvPicPr>
          <p:nvPr/>
        </p:nvPicPr>
        <p:blipFill>
          <a:blip r:embed="rId3"/>
          <a:stretch>
            <a:fillRect/>
          </a:stretch>
        </p:blipFill>
        <p:spPr>
          <a:xfrm>
            <a:off x="0" y="0"/>
            <a:ext cx="1600339" cy="662997"/>
          </a:xfrm>
          <a:prstGeom prst="rect">
            <a:avLst/>
          </a:prstGeom>
        </p:spPr>
      </p:pic>
    </p:spTree>
    <p:extLst>
      <p:ext uri="{BB962C8B-B14F-4D97-AF65-F5344CB8AC3E}">
        <p14:creationId xmlns:p14="http://schemas.microsoft.com/office/powerpoint/2010/main" val="386421959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127</TotalTime>
  <Words>592</Words>
  <Application>Microsoft Office PowerPoint</Application>
  <PresentationFormat>Widescreen</PresentationFormat>
  <Paragraphs>57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Fuzzy-Search Engine  AN Error-Tolerant Word Retrieval</vt:lpstr>
      <vt:lpstr>Abstract</vt:lpstr>
      <vt:lpstr>Problem statement</vt:lpstr>
      <vt:lpstr>Proposed functionalities</vt:lpstr>
      <vt:lpstr>Tools and Technologies to be used</vt:lpstr>
      <vt:lpstr>Expected Outcome</vt:lpstr>
      <vt:lpstr>PROJECT FLOW DIAGRAM</vt:lpstr>
      <vt:lpstr>PROJECT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Fuzzy-Search Engine  AN Error-Tolerant Word Retrieval</dc:title>
  <dc:creator>MADHU</dc:creator>
  <cp:lastModifiedBy>MADHU</cp:lastModifiedBy>
  <cp:revision>16</cp:revision>
  <dcterms:created xsi:type="dcterms:W3CDTF">2026-08-06T13:58:31Z</dcterms:created>
  <dcterms:modified xsi:type="dcterms:W3CDTF">2026-10-12T04:52:43Z</dcterms:modified>
</cp:coreProperties>
</file>